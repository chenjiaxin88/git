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9cf815ab3c4a0d" /><Relationship Type="http://schemas.openxmlformats.org/officeDocument/2006/relationships/extended-properties" Target="/docProps/app.xml" Id="R54e45aa25ce14eb5" /><Relationship Type="http://schemas.openxmlformats.org/officeDocument/2006/relationships/officeDocument" Target="/ppt/presentation.xml" Id="Rfa7fd82fcd4b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595922f4654675"/>
  </p:sldMasterIdLst>
  <p:notesMasterIdLst>
    <p:notesMasterId xmlns:r="http://schemas.openxmlformats.org/officeDocument/2006/relationships" r:id="R80b932537cc3479a"/>
  </p:notesMasterIdLst>
  <p:sldIdLst>
    <p:sldId xmlns:r="http://schemas.openxmlformats.org/officeDocument/2006/relationships" id="256" r:id="R1a86de5a57cc430e"/>
    <p:sldId xmlns:r="http://schemas.openxmlformats.org/officeDocument/2006/relationships" id="257" r:id="Read8f8b6afde404d"/>
    <p:sldId xmlns:r="http://schemas.openxmlformats.org/officeDocument/2006/relationships" id="258" r:id="Rf5e95acde98e419e"/>
    <p:sldId xmlns:r="http://schemas.openxmlformats.org/officeDocument/2006/relationships" id="259" r:id="R28452762b6754215"/>
    <p:sldId xmlns:r="http://schemas.openxmlformats.org/officeDocument/2006/relationships" id="260" r:id="R9b8cfad7b0d44123"/>
    <p:sldId xmlns:r="http://schemas.openxmlformats.org/officeDocument/2006/relationships" id="261" r:id="Rc432b92d25484604"/>
    <p:sldId xmlns:r="http://schemas.openxmlformats.org/officeDocument/2006/relationships" id="262" r:id="R2f6218fe3be34cfe"/>
    <p:sldId xmlns:r="http://schemas.openxmlformats.org/officeDocument/2006/relationships" id="263" r:id="R51007e1b2606466c"/>
    <p:sldId xmlns:r="http://schemas.openxmlformats.org/officeDocument/2006/relationships" id="264" r:id="Rb6d100558c754d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a0df570714f31" /><Relationship Type="http://schemas.openxmlformats.org/officeDocument/2006/relationships/slideMaster" Target="/ppt/slideMasters/slideMaster1.xml" Id="R5f595922f4654675" /><Relationship Type="http://schemas.openxmlformats.org/officeDocument/2006/relationships/notesMaster" Target="/ppt/notesMasters/notesMaster1.xml" Id="R80b932537cc3479a" /><Relationship Type="http://schemas.openxmlformats.org/officeDocument/2006/relationships/presProps" Target="/ppt/presProps.xml" Id="Rf5db8eec1d734f69" /><Relationship Type="http://schemas.openxmlformats.org/officeDocument/2006/relationships/tableStyles" Target="/ppt/tableStyles.xml" Id="R5bcf6155208b4a0b" /><Relationship Type="http://schemas.openxmlformats.org/officeDocument/2006/relationships/slide" Target="/ppt/slides/slide1.xml" Id="R1a86de5a57cc430e" /><Relationship Type="http://schemas.openxmlformats.org/officeDocument/2006/relationships/slide" Target="/ppt/slides/slide2.xml" Id="Read8f8b6afde404d" /><Relationship Type="http://schemas.openxmlformats.org/officeDocument/2006/relationships/slide" Target="/ppt/slides/slide3.xml" Id="Rf5e95acde98e419e" /><Relationship Type="http://schemas.openxmlformats.org/officeDocument/2006/relationships/slide" Target="/ppt/slides/slide4.xml" Id="R28452762b6754215" /><Relationship Type="http://schemas.openxmlformats.org/officeDocument/2006/relationships/slide" Target="/ppt/slides/slide5.xml" Id="R9b8cfad7b0d44123" /><Relationship Type="http://schemas.openxmlformats.org/officeDocument/2006/relationships/slide" Target="/ppt/slides/slide6.xml" Id="Rc432b92d25484604" /><Relationship Type="http://schemas.openxmlformats.org/officeDocument/2006/relationships/slide" Target="/ppt/slides/slide7.xml" Id="R2f6218fe3be34cfe" /><Relationship Type="http://schemas.openxmlformats.org/officeDocument/2006/relationships/slide" Target="/ppt/slides/slide8.xml" Id="R51007e1b2606466c" /><Relationship Type="http://schemas.openxmlformats.org/officeDocument/2006/relationships/slide" Target="/ppt/slides/slide9.xml" Id="Rb6d100558c754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de0d800a8d48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2d9e567f944ee1" /><Relationship Type="http://schemas.openxmlformats.org/officeDocument/2006/relationships/notesMaster" Target="/ppt/notesMasters/notesMaster1.xml" Id="R07b2695abb5646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98dbb1e6a4462e" /><Relationship Type="http://schemas.openxmlformats.org/officeDocument/2006/relationships/notesMaster" Target="/ppt/notesMasters/notesMaster1.xml" Id="R1fe576d2d98e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ceac6193744915" /><Relationship Type="http://schemas.openxmlformats.org/officeDocument/2006/relationships/notesMaster" Target="/ppt/notesMasters/notesMaster1.xml" Id="R867b4646c1bb4f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f3776814d64d47" /><Relationship Type="http://schemas.openxmlformats.org/officeDocument/2006/relationships/notesMaster" Target="/ppt/notesMasters/notesMaster1.xml" Id="R4604f4ab3f4d44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98424776c4314" /><Relationship Type="http://schemas.openxmlformats.org/officeDocument/2006/relationships/notesMaster" Target="/ppt/notesMasters/notesMaster1.xml" Id="R49868356df3542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0045bf5274a54" /><Relationship Type="http://schemas.openxmlformats.org/officeDocument/2006/relationships/notesMaster" Target="/ppt/notesMasters/notesMaster1.xml" Id="R3e12c2ec1a4444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5e53b733444191" /><Relationship Type="http://schemas.openxmlformats.org/officeDocument/2006/relationships/notesMaster" Target="/ppt/notesMasters/notesMaster1.xml" Id="Rb0fa946a16dc43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6c1b28a0ef49ae" /><Relationship Type="http://schemas.openxmlformats.org/officeDocument/2006/relationships/notesMaster" Target="/ppt/notesMasters/notesMaster1.xml" Id="Rb464604f71d447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9ebe3e49494029" /><Relationship Type="http://schemas.openxmlformats.org/officeDocument/2006/relationships/notesMaster" Target="/ppt/notesMasters/notesMaster1.xml" Id="R51efa3082e8a4d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82b29f6d04f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f3e47b1b504456" /><Relationship Type="http://schemas.openxmlformats.org/officeDocument/2006/relationships/slideLayout" Target="/ppt/slideLayouts/slideLayout1.xml" Id="R05f2ca8a0f6b4f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f2ca8a0f6b4f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fc4ca2c634063" /><Relationship Type="http://schemas.openxmlformats.org/officeDocument/2006/relationships/notesSlide" Target="/ppt/notesSlides/notesSlide1.xml" Id="R85fc84fcadf7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e57fc371e42ce" /><Relationship Type="http://schemas.openxmlformats.org/officeDocument/2006/relationships/notesSlide" Target="/ppt/notesSlides/notesSlide2.xml" Id="R6ae772ece27d43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71d9dba344944" /><Relationship Type="http://schemas.openxmlformats.org/officeDocument/2006/relationships/notesSlide" Target="/ppt/notesSlides/notesSlide3.xml" Id="R6c7ae337402a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d1a0de1ef426d" /><Relationship Type="http://schemas.openxmlformats.org/officeDocument/2006/relationships/notesSlide" Target="/ppt/notesSlides/notesSlide4.xml" Id="R28991595c7d240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8921b29864581" /><Relationship Type="http://schemas.openxmlformats.org/officeDocument/2006/relationships/notesSlide" Target="/ppt/notesSlides/notesSlide5.xml" Id="R1e75027d346a4f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71d0f2d464084" /><Relationship Type="http://schemas.openxmlformats.org/officeDocument/2006/relationships/notesSlide" Target="/ppt/notesSlides/notesSlide6.xml" Id="Red3fb10b98d146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1e10126124365" /><Relationship Type="http://schemas.openxmlformats.org/officeDocument/2006/relationships/notesSlide" Target="/ppt/notesSlides/notesSlide7.xml" Id="R9cd20bf925a742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39b1827464bc4" /><Relationship Type="http://schemas.openxmlformats.org/officeDocument/2006/relationships/notesSlide" Target="/ppt/notesSlides/notesSlide8.xml" Id="R72981ecc44a342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96b5f61cb47ea" /><Relationship Type="http://schemas.openxmlformats.org/officeDocument/2006/relationships/notesSlide" Target="/ppt/notesSlides/notesSlide9.xml" Id="R6bfa4bb74d2a44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362D5-95C9-44B9-8486-18FD2184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00000"/>
                </a:solidFill>
              </a:defRPr>
            </a:pPr>
            <a:r>
              <a:rPr sz="6600" b="1">
                <a:solidFill>
                  <a:srgbClr val="000000"/>
                </a:solidFill>
              </a:rPr>
              <a:t>GEO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84371-DDAC-4F87-A420-C2211DB1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</a:defRPr>
            </a:pPr>
            <a:r>
              <a:rPr sz="2700" b="0">
                <a:solidFill>
                  <a:srgbClr val="000000"/>
                </a:solidFill>
              </a:rPr>
              <a:t>Generative Engine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F64F9-87CF-4A0E-9A68-F3811FBD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55555"/>
                </a:solidFill>
              </a:defRPr>
            </a:pPr>
            <a:r>
              <a:rPr sz="2400" b="0">
                <a:solidFill>
                  <a:srgbClr val="555555"/>
                </a:solidFill>
              </a:rPr>
              <a:t>让内容更容易被 AI 搜索理解、提取、引用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6E5D9-6E40-4B47-98BF-3CC27CD6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28650"/>
            <a:ext cx="3429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FC7F1-3FC6-42A1-954C-51F626A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85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AI 搜索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1CFA6-8A58-4BD9-853F-738C2FEE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28575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用户问题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模型理解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多源检索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答案生成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↓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</a:defRPr>
            </a:pPr>
            <a:r>
              <a:rPr sz="2175" b="0">
                <a:solidFill>
                  <a:srgbClr val="000000"/>
                </a:solidFill>
              </a:rPr>
              <a:t>品牌被引用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40CF1-7B14-40B4-AF3B-E45A04CC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96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50C76-8D90-43BA-9C50-C2459E07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汇报版 /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1C16E-9932-40B5-89EF-FC80884B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EF679-2DCC-4F0F-A8AF-EF69B373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8792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D66FE-1E0F-4F82-8E15-EFC85F59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从链接列表到答案引擎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E4EE7-F01E-43C6-90FC-D210AFB4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为什么现在需要 GEO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E3450-FD4A-42BD-B548-C7B8DB9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9FF1E-697D-4AF5-89D7-0F1778DE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45208-D880-4FBD-9ECD-728678EF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用户不再只输入关键词，而是直接问完整问题。AI 搜索会把多个来源压缩成一个答案，品牌能否进入答案，取决于内容是否清楚、可信、可抽取。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A0A09-A478-4DEE-B746-E252BCEC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562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0EE35-9C71-4249-B8ED-7131EAF9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传统搜索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0D393-4185-417F-91EF-DEB0434C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排名页 + 摘要片段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目标是获得点击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0355C-2794-4842-A033-6431F61C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562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7AE73-4B45-4090-B3B8-F25F460B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AI 搜索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9F50B-5C67-4E1D-AB45-677A7719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答案生成 + 来源引用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目标是进入答案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1D1B5-E029-4D2A-AD9B-5F2A5D09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3562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16F93-FA14-4CDA-9BC2-CED0D27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GEO 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65735-9087-4BD4-ACA0-912B5EF0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304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降低模型理解成本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提高被引用概率</a:t>
            </a:r>
          </a:p>
        </p:txBody>
      </p:sp>
    </p:spTree>
    <p:extLst>
      <p:ext uri="{BB962C8B-B14F-4D97-AF65-F5344CB8AC3E}">
        <p14:creationId xmlns:p14="http://schemas.microsoft.com/office/powerpoint/2010/main" val="1931781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5640DF-9798-4CDC-8AFC-D23E921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4A4F3-6E27-4390-8A9E-DCA24A07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什么是 GEO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B4F52-378D-4430-81CC-C219632D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0354C-CBCF-406B-A157-8610D087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7E109-B2CB-46EA-96B4-81532915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0B597-5626-4247-99FF-5EC761D2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GEO 是一种面向 AI 搜索引擎的内容优化方式。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B7AA2-C882-48C0-BC85-1883159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目标不是“操控模型”，而是让网站内容更容易被 AI 理解、提取、验证和引用。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F1C6D-DC14-417D-B484-D2E9454F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562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1C163-E2A2-4033-835E-E2F010D6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面向对象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3E33C-6EF9-42B7-9F31-1A54CEAD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ChatGPT、Gemini、Perplexity、AI Overviews 等生成式搜索或答案引擎。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48468-6AF4-4962-9FAA-3FD9681F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28950"/>
            <a:ext cx="3562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D70DB-9378-4C60-9CC2-3B5CFBE2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内容重点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95BCF-374B-416F-B654-7188BCE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结构化、解释型、技术型内容：标题层级、步骤说明、FAQ、术语定义、对比表。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A4C0A-8EBE-409D-AC50-F8368DE4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5623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BF01D-27BB-4A39-93B5-44DFF7C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核心预期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81B11-B1E5-48BD-BCD6-007C0FB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不能保证一定被引用，但可显著提高“被理解”和“被引用”的概率。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57949-94EA-46ED-867A-C5688772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一句话：把内容从“给人读的网页”，升级为“人和 AI 都能快速解析的答案资产”。</a:t>
            </a:r>
          </a:p>
        </p:txBody>
      </p:sp>
    </p:spTree>
    <p:extLst>
      <p:ext uri="{BB962C8B-B14F-4D97-AF65-F5344CB8AC3E}">
        <p14:creationId xmlns:p14="http://schemas.microsoft.com/office/powerpoint/2010/main" val="1158500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4B1B9-6C92-4FCF-8BC8-3F2C3851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不是替代，而是延伸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F1CF9-8322-458E-AB47-59A555EA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SEO 与 GEO 的区别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5B377-6384-46AF-B72F-9C50EC5B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970F7-A321-459E-BA40-1BD0347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477BD-45E9-4388-8A6F-8DF99F6E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B67E5-22E2-4D99-B484-366823C5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6FC44-B38A-4580-AF39-D88D0ED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SEO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3C6AC-6BB2-4414-AE71-F94E07A5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05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B35"/>
                </a:solidFill>
              </a:defRPr>
            </a:pPr>
            <a:r>
              <a:rPr sz="3450" b="1">
                <a:solidFill>
                  <a:srgbClr val="FF6B35"/>
                </a:solidFill>
              </a:rPr>
              <a:t>GEO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C5498-52B9-4957-A2AE-AC874D70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38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围绕关键词、排名、点击率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重视页面体验、外链、技术可抓取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用户从搜索结果页进入网站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衡量：排名、流量、转化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B482F-FEF2-4431-8A59-7EADA69A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4381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围绕问题、实体、答案和引用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重视可解释、可验证、可抽取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用户可能先看到 AI 综合答案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• 衡量：提及、引用、答案覆盖</a:t>
            </a:r>
          </a:p>
        </p:txBody>
      </p:sp>
    </p:spTree>
    <p:extLst>
      <p:ext uri="{BB962C8B-B14F-4D97-AF65-F5344CB8AC3E}">
        <p14:creationId xmlns:p14="http://schemas.microsoft.com/office/powerpoint/2010/main" val="18774278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7CF5DA-898A-4E2A-95B8-9D9A2276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从网页到答案的 5 个环节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94666-BD67-4F28-944E-B91279E9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AI 搜索如何选中内容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8C03F-9ED9-4401-A0A2-53E5C305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83617-71EF-4ADD-8B24-64580612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24F4B-68C0-41C9-9D3F-0B5FA150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885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1BA1B-5450-4FA8-87FC-1CB514E6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D3907-129E-44DA-87FF-BB486BE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C2648-37B3-4890-9A44-887D84A1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能被抓取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索引清楚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74B2E-827C-47E4-98A3-EB36544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81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B8BCC4"/>
                </a:solidFill>
              </a:defRPr>
            </a:pPr>
            <a:r>
              <a:rPr sz="2400" b="0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F1B30-5916-4CB4-997C-ECD11387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62150"/>
            <a:ext cx="1885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DC108-3CB3-4816-B94F-B26D255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2C4E3-DE57-4118-94EB-379B42D5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2B775-49BB-44C5-A603-3AC6B9A5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标题层级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实体明确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868F3-3E28-4C36-B53C-5B22DE2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81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B8BCC4"/>
                </a:solidFill>
              </a:defRPr>
            </a:pPr>
            <a:r>
              <a:rPr sz="2400" b="0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5CD41-5E92-424D-B5D6-BB5151F5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62150"/>
            <a:ext cx="1885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32921-B7A1-47AE-AB7F-B49F82AE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AB718-26A6-4B41-8195-BDB675FF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EEDCF-4CC2-4DA8-BDFF-F06FFE6F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来源可信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证据充足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CA491-9164-4F9A-AC17-91F1D5C3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81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B8BCC4"/>
                </a:solidFill>
              </a:defRPr>
            </a:pPr>
            <a:r>
              <a:rPr sz="2400" b="0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0154D-42B8-40FD-9735-78922FAC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62150"/>
            <a:ext cx="1885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B70C0-1D70-46EB-8996-A669E73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5555"/>
                </a:solidFill>
              </a:defRPr>
            </a:pPr>
            <a:r>
              <a:rPr sz="1875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A254C-7787-44A9-B52D-9E3B30D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综合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90095-5A32-49AC-B680-D27CDA6F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段落可抽取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答案完整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BF07C-5829-4C66-B0A2-17CA9884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781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B8BCC4"/>
                </a:solidFill>
              </a:defRPr>
            </a:pPr>
            <a:r>
              <a:rPr sz="2400" b="0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96D68-2D9F-4981-8384-A7BD5635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62150"/>
            <a:ext cx="1885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603B4-3E41-4049-A818-26E23397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336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B2EA2E-A76A-4388-B9D7-149B172D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4C7E5-0B0D-4AD0-8239-8367992E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38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品牌/页面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成为来源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092271-081D-4206-8FFE-9686CC03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GEO的工作就是逐步减少每个环节的摩擦：让模型更快判断“这页在回答什么、凭什么可信、哪句话可以引用”。</a:t>
            </a:r>
          </a:p>
        </p:txBody>
      </p:sp>
    </p:spTree>
    <p:extLst>
      <p:ext uri="{BB962C8B-B14F-4D97-AF65-F5344CB8AC3E}">
        <p14:creationId xmlns:p14="http://schemas.microsoft.com/office/powerpoint/2010/main" val="1696578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44D7B-CF7C-4F4B-902B-3733688D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把内容做成可解析的答案资产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44FA6-589E-491E-B2D4-BEE9584C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GEO 内容优化配方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F94E2-0C5E-40E5-B490-7ADBAF74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598B5-4265-4722-99A8-E0B2A88E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B2EB1-98D1-419C-B9FD-A913E312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476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EB6A1-D485-43F4-BE95-C1EBD4BE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结构清晰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5F921-890D-4657-9AEE-B76ACF24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057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H1/H2/H3 层级明确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首段直接回答问题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步骤、列表、表格拆解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35DDC-BFA6-4097-B024-731B96B8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95450"/>
            <a:ext cx="2476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86000-361F-4BAD-9E26-FB22FDB2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0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解释充分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DC41B-46E7-437F-B5B0-74405814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67000"/>
            <a:ext cx="2057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定义术语和边界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补充适用/不适用场景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加入“为什么”说明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C7F26-81F4-4E6E-8DBA-BC23757E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476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AECD1-F98E-4012-A0F6-B738F1E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证据可信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A6967-0812-422E-A89D-BB37A1B6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2057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引用权威来源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加入数据、案例、原始经验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标注作者和更新时间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8795D-8D67-4E05-A3FC-9C949E66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95450"/>
            <a:ext cx="2476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A5CC6-C1D5-4664-9312-F50EFF7F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002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机器可读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09EE3-B269-456F-A91A-61A884D4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67000"/>
            <a:ext cx="2057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FAQ / HowTo / Article 结构化数据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实体名称一致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图片 alt 与表格标题清楚</a:t>
            </a:r>
          </a:p>
        </p:txBody>
      </p:sp>
    </p:spTree>
    <p:extLst>
      <p:ext uri="{BB962C8B-B14F-4D97-AF65-F5344CB8AC3E}">
        <p14:creationId xmlns:p14="http://schemas.microsoft.com/office/powerpoint/2010/main" val="1371713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5A9CC4-2C5F-4C06-ADA6-085E06FB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把一篇普通文章改成 GEO 友好页面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71F6B-C8D0-42CD-8FE7-498465F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页面改造示例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3D589-7ED3-45F1-A6F2-8AE7F8CD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BEA50-BB36-4521-91F3-8E0508B4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DD2AD-CBCF-468D-AA63-1BF3CE5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4762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B51A1-8E3F-4901-AD94-EA55D476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改造前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CEAE7-B537-40D9-8652-9BA8B562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标题偏营销，问题不明确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长段落堆叠，缺少小标题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没有 FAQ、定义、步骤说明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缺少来源、作者、更新时间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AI 很难摘出可引用答案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620BC-5B1F-458B-BBF6-340A1A42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43050"/>
            <a:ext cx="4762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DFB9B-3625-4B76-BF89-8B8F98C7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35"/>
                </a:solidFill>
              </a:defRPr>
            </a:pPr>
            <a:r>
              <a:rPr sz="2325" b="1">
                <a:solidFill>
                  <a:srgbClr val="FF6B35"/>
                </a:solidFill>
              </a:rPr>
              <a:t>改造后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1D5F2-249D-45FA-A43F-19630115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标题直接对应用户问题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首段给出 2-3 句答案摘要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H2 拆成定义、方法、案例、FAQ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加入数据、来源、专家解释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• 补充结构化数据和内部链接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F5DA9-16E7-4138-86DD-1415A0D8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76600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0">
                <a:solidFill>
                  <a:srgbClr val="B8BCC4"/>
                </a:solidFill>
              </a:defRPr>
            </a:pPr>
            <a:r>
              <a:rPr sz="4050" b="0">
                <a:solidFill>
                  <a:srgbClr val="B8BCC4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52116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A1DFA-26AA-4563-8822-26D7E78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从内容盘点到可见性监测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FDBB1-F279-4D0D-9C5B-392A5F1C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30 天落地路线图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4EC5A-698A-474E-945E-FE93F3BE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ED817-49BF-4008-8D9E-A4E31E9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77839-3B2E-4FB0-9D8E-D4A98482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第 1 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DD5FE-376D-4E32-9F75-80C13370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00200"/>
            <a:ext cx="10039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A1946-722C-4816-A697-C08D28F6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752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问题盘点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83E42-B4C8-483B-BFC9-91769CC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716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收集用户常问问题、销售/客服问答、搜索词和竞品答案。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9DF00-03F7-4804-8F0C-6583C845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第 2 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E124B-CDAA-46E7-8A05-472776A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67000"/>
            <a:ext cx="10039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FEA52-3341-4321-8576-FB10574C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194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页面优先级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77BF1-625B-4A25-8443-9170C07D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选择最适合被 AI 引用的内容：定义、教程、对比、FAQ、行业解释。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45BA8-35E3-40B8-B4E0-8232D962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第 3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A8A92-7C09-49AC-A939-23F8AC73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10039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03D9B-4295-4351-895A-213B4E0E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862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内容改造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888FE-100F-4B20-A194-17A8BB0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补充摘要、结构层级、证据来源、FAQ、作者信息和结构化数据。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25418-B9E1-449C-B941-C2925C1F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第 4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F381C-E5EC-4F63-9950-27832B1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00600"/>
            <a:ext cx="10039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676D7-6381-4415-B770-E22C7C35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53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测试监测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5113D-9A19-49F0-9AFA-1EBEF58F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用典型问题在不同 AI 搜索中测试提及、引用、链接和答案位置。</a:t>
            </a:r>
          </a:p>
        </p:txBody>
      </p:sp>
    </p:spTree>
    <p:extLst>
      <p:ext uri="{BB962C8B-B14F-4D97-AF65-F5344CB8AC3E}">
        <p14:creationId xmlns:p14="http://schemas.microsoft.com/office/powerpoint/2010/main" val="1964127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67A35-73DC-42D5-A9AA-EB4FC093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GEO 的正确预期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EC58C-FFD8-44FE-BD47-5A0D133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000000"/>
                </a:solidFill>
              </a:defRPr>
            </a:pPr>
            <a:r>
              <a:rPr sz="3225" b="0">
                <a:solidFill>
                  <a:srgbClr val="000000"/>
                </a:solidFill>
              </a:rPr>
              <a:t>指标、边界与参考来源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15D6E-861F-4A42-9259-D902E488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GEO / Generative Engine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F3F77-7A96-4EC4-B736-A4318024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2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BA51A-C432-45B7-8CD6-C6B7A76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73702-F80B-421C-A0A4-A1E72C69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建议跟踪的指标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1F029-6618-4185-AA4B-8E5DB0F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• AI 答案中的品牌提及次数与语境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• 是否被作为来源链接或引用片段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• 高意图问题的答案覆盖率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• AI 访问流量、传统 SEO 流量与转化变化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0E22E-C9F3-4C48-A6D2-4CB46E83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8F003-73D2-40D3-8E3B-D75E153B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需要避免的误区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B4D43-ECF4-4678-B975-15CE7699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• 不要编造数据、虚构引用或堆砌关键词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• 不要把 GEO 当成“保证被 AI 引用”的承诺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• 不要忽略基础 SEO、页面质量和用户体验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362CE-5127-4E4B-A6A6-E46390A1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5219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AA58B-A4CC-4366-82DF-6E866B12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参考来源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9D3A0-B2FE-4212-9438-EBDF20B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4419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1. Aggarwal et al., Generative Engine Optimization, arXiv:2311.09735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2. Google Search Central, Optimizing your website for generative AI features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3. Google Search Central, AI features and your website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4. Google Search Central, Creating helpful, reliable, people-first content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5. Google Search Central, Intro to structured data markup</a:t>
            </a:r>
          </a:p>
        </p:txBody>
      </p:sp>
    </p:spTree>
    <p:extLst>
      <p:ext uri="{BB962C8B-B14F-4D97-AF65-F5344CB8AC3E}">
        <p14:creationId xmlns:p14="http://schemas.microsoft.com/office/powerpoint/2010/main" val="453745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2026-06-27T02:50:19.6950000Z</dcterms:created>
  <dcterms:modified xsi:type="dcterms:W3CDTF">2026-06-27T02:50:19.6950000Z</dcterms:modified>
</coreProperties>
</file>